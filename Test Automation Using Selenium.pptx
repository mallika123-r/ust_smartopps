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8" r:id="rId14"/>
    <p:sldId id="272" r:id="rId15"/>
    <p:sldId id="269" r:id="rId16"/>
    <p:sldId id="270" r:id="rId17"/>
    <p:sldId id="271" r:id="rId18"/>
    <p:sldId id="273" r:id="rId19"/>
    <p:sldId id="275" r:id="rId20"/>
    <p:sldId id="274" r:id="rId21"/>
    <p:sldId id="276"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4EC83C87-CEC6-417E-A03A-687C037A9E23}" type="datetimeFigureOut">
              <a:rPr lang="en-US" smtClean="0"/>
              <a:t>8/6/2021</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3F3740E9-969F-4F6E-98BA-B103D7A88479}" type="slidenum">
              <a:rPr lang="en-US" smtClean="0"/>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EC83C87-CEC6-417E-A03A-687C037A9E23}" type="datetimeFigureOut">
              <a:rPr lang="en-US" smtClean="0"/>
              <a:t>8/6/2021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3F3740E9-969F-4F6E-98BA-B103D7A8847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4EC83C87-CEC6-417E-A03A-687C037A9E23}" type="datetimeFigureOut">
              <a:rPr lang="en-US" smtClean="0"/>
              <a:t>8/6/2021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3F3740E9-969F-4F6E-98BA-B103D7A88479}" type="slidenum">
              <a:rPr lang="en-US" smtClean="0"/>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4EC83C87-CEC6-417E-A03A-687C037A9E23}" type="datetimeFigureOut">
              <a:rPr lang="en-US" smtClean="0"/>
              <a:t>8/6/2021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3F3740E9-969F-4F6E-98BA-B103D7A8847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4EC83C87-CEC6-417E-A03A-687C037A9E23}" type="datetimeFigureOut">
              <a:rPr lang="en-US" smtClean="0"/>
              <a:t>8/6/2021</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3F3740E9-969F-4F6E-98BA-B103D7A8847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4EC83C87-CEC6-417E-A03A-687C037A9E23}" type="datetimeFigureOut">
              <a:rPr lang="en-US" smtClean="0"/>
              <a:t>8/6/2021</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3F3740E9-969F-4F6E-98BA-B103D7A8847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4EC83C87-CEC6-417E-A03A-687C037A9E23}" type="datetimeFigureOut">
              <a:rPr lang="en-US" smtClean="0"/>
              <a:t>8/6/2021</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3F3740E9-969F-4F6E-98BA-B103D7A88479}" type="slidenum">
              <a:rPr lang="en-US" smtClean="0"/>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4EC83C87-CEC6-417E-A03A-687C037A9E23}" type="datetimeFigureOut">
              <a:rPr lang="en-US" smtClean="0"/>
              <a:t>8/6/2021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3F3740E9-969F-4F6E-98BA-B103D7A8847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4EC83C87-CEC6-417E-A03A-687C037A9E23}" type="datetimeFigureOut">
              <a:rPr lang="en-US" smtClean="0"/>
              <a:t>8/6/2021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3F3740E9-969F-4F6E-98BA-B103D7A88479}" type="slidenum">
              <a:rPr lang="en-US" smtClean="0"/>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EC83C87-CEC6-417E-A03A-687C037A9E23}" type="datetimeFigureOut">
              <a:rPr lang="en-US" smtClean="0"/>
              <a:t>8/6/2021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3F3740E9-969F-4F6E-98BA-B103D7A8847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EC83C87-CEC6-417E-A03A-687C037A9E23}" type="datetimeFigureOut">
              <a:rPr lang="en-US" smtClean="0"/>
              <a:t>8/6/2021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3F3740E9-969F-4F6E-98BA-B103D7A8847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4EC83C87-CEC6-417E-A03A-687C037A9E23}" type="datetimeFigureOut">
              <a:rPr lang="en-US" smtClean="0"/>
              <a:t>8/6/2021</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3F3740E9-969F-4F6E-98BA-B103D7A88479}" type="slidenum">
              <a:rPr lang="en-US" smtClean="0"/>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19200" y="2286000"/>
            <a:ext cx="7498080" cy="1143000"/>
          </a:xfrm>
        </p:spPr>
        <p:txBody>
          <a:bodyPr/>
          <a:lstStyle/>
          <a:p>
            <a:r>
              <a:rPr lang="en-US" altLang="en-US" sz="4000" dirty="0" smtClean="0"/>
              <a:t>Test Automation Using Selenium</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ltLang="en-US" dirty="0" smtClean="0"/>
              <a:t>              Test </a:t>
            </a:r>
            <a:r>
              <a:rPr lang="en-US" altLang="en-US" dirty="0" smtClean="0"/>
              <a:t>Automation</a:t>
            </a:r>
            <a:endParaRPr lang="en-US" dirty="0"/>
          </a:p>
        </p:txBody>
      </p:sp>
      <p:sp>
        <p:nvSpPr>
          <p:cNvPr id="6" name="Content Placeholder 5"/>
          <p:cNvSpPr>
            <a:spLocks noGrp="1"/>
          </p:cNvSpPr>
          <p:nvPr>
            <p:ph idx="1"/>
          </p:nvPr>
        </p:nvSpPr>
        <p:spPr/>
        <p:txBody>
          <a:bodyPr/>
          <a:lstStyle/>
          <a:p>
            <a:pPr algn="just">
              <a:lnSpc>
                <a:spcPct val="90000"/>
              </a:lnSpc>
            </a:pPr>
            <a:r>
              <a:rPr lang="en-US" altLang="en-US" dirty="0" smtClean="0"/>
              <a:t>Test automation is the use of software  </a:t>
            </a:r>
          </a:p>
          <a:p>
            <a:pPr lvl="2" algn="just">
              <a:lnSpc>
                <a:spcPct val="90000"/>
              </a:lnSpc>
              <a:buFont typeface="Wingdings" pitchFamily="2" charset="2"/>
              <a:buChar char="§"/>
            </a:pPr>
            <a:r>
              <a:rPr lang="en-US" altLang="en-US" i="1" dirty="0" smtClean="0"/>
              <a:t>To set test preconditions.</a:t>
            </a:r>
          </a:p>
          <a:p>
            <a:pPr lvl="2" algn="just">
              <a:lnSpc>
                <a:spcPct val="90000"/>
              </a:lnSpc>
              <a:buFont typeface="Wingdings" pitchFamily="2" charset="2"/>
              <a:buChar char="§"/>
            </a:pPr>
            <a:r>
              <a:rPr lang="en-US" altLang="en-US" i="1" dirty="0" smtClean="0"/>
              <a:t>To control the execution of tests.</a:t>
            </a:r>
            <a:endParaRPr lang="en-US" altLang="en-US" dirty="0" smtClean="0"/>
          </a:p>
          <a:p>
            <a:pPr lvl="2" algn="just">
              <a:lnSpc>
                <a:spcPct val="90000"/>
              </a:lnSpc>
              <a:buFont typeface="Wingdings" pitchFamily="2" charset="2"/>
              <a:buChar char="§"/>
            </a:pPr>
            <a:r>
              <a:rPr lang="en-US" altLang="en-US" dirty="0" smtClean="0"/>
              <a:t> To </a:t>
            </a:r>
            <a:r>
              <a:rPr lang="en-US" altLang="en-US" i="1" dirty="0" smtClean="0"/>
              <a:t>compare the actual outcomes to predicted outcomes.</a:t>
            </a:r>
            <a:endParaRPr lang="en-US" altLang="en-US" dirty="0" smtClean="0"/>
          </a:p>
          <a:p>
            <a:pPr lvl="2" algn="just">
              <a:lnSpc>
                <a:spcPct val="90000"/>
              </a:lnSpc>
              <a:buFont typeface="Wingdings" pitchFamily="2" charset="2"/>
              <a:buChar char="§"/>
            </a:pPr>
            <a:r>
              <a:rPr lang="en-US" altLang="en-US" i="1" dirty="0" smtClean="0"/>
              <a:t>To report the Execution Status.</a:t>
            </a:r>
          </a:p>
          <a:p>
            <a:pPr algn="just">
              <a:lnSpc>
                <a:spcPct val="90000"/>
              </a:lnSpc>
            </a:pPr>
            <a:r>
              <a:rPr lang="en-US" altLang="en-US" dirty="0" smtClean="0"/>
              <a:t>Commonly, test automation involves automating a manual process already in place that uses a formalized testing process.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Why and When To Automate?</a:t>
            </a:r>
            <a:endParaRPr lang="en-US" dirty="0"/>
          </a:p>
        </p:txBody>
      </p:sp>
      <p:sp>
        <p:nvSpPr>
          <p:cNvPr id="3" name="Content Placeholder 2"/>
          <p:cNvSpPr>
            <a:spLocks noGrp="1"/>
          </p:cNvSpPr>
          <p:nvPr>
            <p:ph idx="1"/>
          </p:nvPr>
        </p:nvSpPr>
        <p:spPr/>
        <p:txBody>
          <a:bodyPr/>
          <a:lstStyle/>
          <a:p>
            <a:r>
              <a:rPr lang="en-US" altLang="en-US" dirty="0" smtClean="0"/>
              <a:t>Frequent regression testing</a:t>
            </a:r>
          </a:p>
          <a:p>
            <a:r>
              <a:rPr lang="en-US" altLang="en-US" dirty="0" smtClean="0"/>
              <a:t>Repeated test case Execution is required</a:t>
            </a:r>
          </a:p>
          <a:p>
            <a:r>
              <a:rPr lang="en-US" altLang="en-US" dirty="0" smtClean="0"/>
              <a:t>User Acceptance Tests</a:t>
            </a:r>
          </a:p>
          <a:p>
            <a:r>
              <a:rPr lang="en-US" altLang="en-US" dirty="0" smtClean="0"/>
              <a:t>Faster Feedback to the developers</a:t>
            </a:r>
          </a:p>
          <a:p>
            <a:r>
              <a:rPr lang="en-US" altLang="en-US" dirty="0" smtClean="0"/>
              <a:t>Reduce the Human Effort</a:t>
            </a:r>
          </a:p>
          <a:p>
            <a:r>
              <a:rPr lang="en-US" altLang="en-US" dirty="0" smtClean="0"/>
              <a:t>Test same application on multiple environments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US" dirty="0" smtClean="0"/>
              <a:t>Selenium</a:t>
            </a:r>
            <a:endParaRPr lang="en-US" dirty="0"/>
          </a:p>
        </p:txBody>
      </p:sp>
      <p:sp>
        <p:nvSpPr>
          <p:cNvPr id="3" name="Content Placeholder 2"/>
          <p:cNvSpPr>
            <a:spLocks noGrp="1"/>
          </p:cNvSpPr>
          <p:nvPr>
            <p:ph idx="1"/>
          </p:nvPr>
        </p:nvSpPr>
        <p:spPr/>
        <p:txBody>
          <a:bodyPr>
            <a:normAutofit fontScale="85000" lnSpcReduction="10000"/>
          </a:bodyPr>
          <a:lstStyle/>
          <a:p>
            <a:pPr algn="just">
              <a:lnSpc>
                <a:spcPct val="90000"/>
              </a:lnSpc>
            </a:pPr>
            <a:r>
              <a:rPr lang="en-US" b="1" dirty="0" smtClean="0"/>
              <a:t>Selenium</a:t>
            </a:r>
            <a:r>
              <a:rPr lang="en-US" dirty="0" smtClean="0"/>
              <a:t> is a free (open-source) automated testing framework used to validate web applications across different browsers and platforms. </a:t>
            </a:r>
            <a:r>
              <a:rPr lang="en-US" altLang="en-US" dirty="0" smtClean="0"/>
              <a:t>Selenium provides a rich set of testing functions specifically geared to the needs of testing of a web application. </a:t>
            </a:r>
          </a:p>
          <a:p>
            <a:pPr>
              <a:lnSpc>
                <a:spcPct val="90000"/>
              </a:lnSpc>
            </a:pPr>
            <a:r>
              <a:rPr lang="en-US" altLang="en-US" dirty="0" smtClean="0"/>
              <a:t>Supports Cross Browser Testing. The Selenium tests can be run on multiple browsers.</a:t>
            </a:r>
          </a:p>
          <a:p>
            <a:pPr>
              <a:lnSpc>
                <a:spcPct val="90000"/>
              </a:lnSpc>
            </a:pPr>
            <a:r>
              <a:rPr lang="en-US" altLang="en-US" dirty="0" smtClean="0"/>
              <a:t>Allows scripting in several languages like Java, C#, PHP and Python.</a:t>
            </a:r>
          </a:p>
          <a:p>
            <a:pPr>
              <a:lnSpc>
                <a:spcPct val="90000"/>
              </a:lnSpc>
            </a:pPr>
            <a:r>
              <a:rPr lang="en-US" altLang="en-US" dirty="0" smtClean="0"/>
              <a:t>Assertion statements provide an efficient way of comparing expected and actual results.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Selenium Web Driver</a:t>
            </a:r>
            <a:endParaRPr lang="en-US" dirty="0"/>
          </a:p>
        </p:txBody>
      </p:sp>
      <p:sp>
        <p:nvSpPr>
          <p:cNvPr id="3" name="Content Placeholder 2"/>
          <p:cNvSpPr>
            <a:spLocks noGrp="1"/>
          </p:cNvSpPr>
          <p:nvPr>
            <p:ph idx="1"/>
          </p:nvPr>
        </p:nvSpPr>
        <p:spPr/>
        <p:txBody>
          <a:bodyPr/>
          <a:lstStyle/>
          <a:p>
            <a:r>
              <a:rPr lang="en-US" dirty="0" smtClean="0"/>
              <a:t>It interrogates and manipulates the HTML.</a:t>
            </a:r>
          </a:p>
          <a:p>
            <a:r>
              <a:rPr lang="en-US" dirty="0" smtClean="0"/>
              <a:t>Contains domain-specific language (</a:t>
            </a:r>
            <a:r>
              <a:rPr lang="en-US" dirty="0" err="1" smtClean="0"/>
              <a:t>Selenese</a:t>
            </a:r>
            <a:r>
              <a:rPr lang="en-US" dirty="0" smtClean="0"/>
              <a:t>).</a:t>
            </a:r>
          </a:p>
          <a:p>
            <a:r>
              <a:rPr lang="en-US" dirty="0" smtClean="0"/>
              <a:t>There are multiple ways to find out the HTML element and those are called Web Element in selenium like Id, class, CSS, </a:t>
            </a:r>
            <a:r>
              <a:rPr lang="en-US" dirty="0" err="1" smtClean="0"/>
              <a:t>Xpath</a:t>
            </a:r>
            <a:r>
              <a:rPr lang="en-US" dirty="0" smtClean="0"/>
              <a:t> few locators which will be used </a:t>
            </a:r>
            <a:r>
              <a:rPr lang="en-US" dirty="0" err="1" smtClean="0"/>
              <a:t>commenly</a:t>
            </a:r>
            <a:r>
              <a:rPr lang="en-US" dirty="0" smtClean="0"/>
              <a:t>.</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Finding elements by</a:t>
            </a:r>
            <a:endParaRPr lang="en-US" dirty="0"/>
          </a:p>
        </p:txBody>
      </p:sp>
      <p:sp>
        <p:nvSpPr>
          <p:cNvPr id="3" name="Content Placeholder 2"/>
          <p:cNvSpPr>
            <a:spLocks noGrp="1"/>
          </p:cNvSpPr>
          <p:nvPr>
            <p:ph idx="1"/>
          </p:nvPr>
        </p:nvSpPr>
        <p:spPr/>
        <p:txBody>
          <a:bodyPr>
            <a:normAutofit lnSpcReduction="10000"/>
          </a:bodyPr>
          <a:lstStyle/>
          <a:p>
            <a:r>
              <a:rPr lang="en-US" dirty="0" smtClean="0"/>
              <a:t>ID: – By.id(“cheese”); </a:t>
            </a:r>
          </a:p>
          <a:p>
            <a:r>
              <a:rPr lang="en-US" dirty="0" smtClean="0"/>
              <a:t> Class: – </a:t>
            </a:r>
            <a:r>
              <a:rPr lang="en-US" dirty="0" err="1" smtClean="0"/>
              <a:t>By.class</a:t>
            </a:r>
            <a:r>
              <a:rPr lang="en-US" dirty="0" smtClean="0"/>
              <a:t>(“cheese”); </a:t>
            </a:r>
          </a:p>
          <a:p>
            <a:r>
              <a:rPr lang="en-US" dirty="0" smtClean="0"/>
              <a:t>Name: – By.name(“cheese”); </a:t>
            </a:r>
          </a:p>
          <a:p>
            <a:r>
              <a:rPr lang="en-US" dirty="0" smtClean="0"/>
              <a:t>Tag Name: – </a:t>
            </a:r>
            <a:r>
              <a:rPr lang="en-US" dirty="0" err="1" smtClean="0"/>
              <a:t>By.tagName</a:t>
            </a:r>
            <a:r>
              <a:rPr lang="en-US" dirty="0" smtClean="0"/>
              <a:t>(“cheese”); </a:t>
            </a:r>
          </a:p>
          <a:p>
            <a:r>
              <a:rPr lang="en-US" dirty="0" err="1" smtClean="0"/>
              <a:t>LinkText</a:t>
            </a:r>
            <a:r>
              <a:rPr lang="en-US" dirty="0" smtClean="0"/>
              <a:t>/partial link text: – </a:t>
            </a:r>
            <a:r>
              <a:rPr lang="en-US" dirty="0" err="1" smtClean="0"/>
              <a:t>By.linkText</a:t>
            </a:r>
            <a:r>
              <a:rPr lang="en-US" dirty="0" smtClean="0"/>
              <a:t>(“cheese”); </a:t>
            </a:r>
          </a:p>
          <a:p>
            <a:r>
              <a:rPr lang="en-US" dirty="0" smtClean="0"/>
              <a:t>CSS: – </a:t>
            </a:r>
            <a:r>
              <a:rPr lang="en-US" dirty="0" err="1" smtClean="0"/>
              <a:t>By.cssSelector</a:t>
            </a:r>
            <a:r>
              <a:rPr lang="en-US" dirty="0" smtClean="0"/>
              <a:t>(“#food </a:t>
            </a:r>
            <a:r>
              <a:rPr lang="en-US" dirty="0" err="1" smtClean="0"/>
              <a:t>span.dairy.aged</a:t>
            </a:r>
            <a:r>
              <a:rPr lang="en-US" dirty="0" smtClean="0"/>
              <a:t>”); </a:t>
            </a:r>
          </a:p>
          <a:p>
            <a:r>
              <a:rPr lang="en-US" dirty="0" err="1" smtClean="0"/>
              <a:t>XPath</a:t>
            </a:r>
            <a:r>
              <a:rPr lang="en-US" dirty="0" smtClean="0"/>
              <a:t>: – </a:t>
            </a:r>
            <a:r>
              <a:rPr lang="en-US" dirty="0" err="1" smtClean="0"/>
              <a:t>By.xpath</a:t>
            </a:r>
            <a:r>
              <a:rPr lang="en-US" dirty="0" smtClean="0"/>
              <a:t>(“//input”);</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Structure of Web Driver</a:t>
            </a:r>
            <a:endParaRPr lang="en-US" dirty="0"/>
          </a:p>
        </p:txBody>
      </p:sp>
      <p:pic>
        <p:nvPicPr>
          <p:cNvPr id="4" name="Picture 2"/>
          <p:cNvPicPr>
            <a:picLocks noGrp="1" noChangeAspect="1" noChangeArrowheads="1"/>
          </p:cNvPicPr>
          <p:nvPr>
            <p:ph idx="1"/>
          </p:nvPr>
        </p:nvPicPr>
        <p:blipFill>
          <a:blip r:embed="rId2"/>
          <a:srcRect/>
          <a:stretch>
            <a:fillRect/>
          </a:stretch>
        </p:blipFill>
        <p:spPr>
          <a:xfrm>
            <a:off x="1143000" y="1219200"/>
            <a:ext cx="7734878" cy="5029200"/>
          </a:xfr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4400" dirty="0" smtClean="0"/>
              <a:t>Setting Up an Eclipse Project for Selenium Automation</a:t>
            </a:r>
            <a:endParaRPr lang="en-US" dirty="0"/>
          </a:p>
        </p:txBody>
      </p:sp>
      <p:sp>
        <p:nvSpPr>
          <p:cNvPr id="3" name="Content Placeholder 2"/>
          <p:cNvSpPr>
            <a:spLocks noGrp="1"/>
          </p:cNvSpPr>
          <p:nvPr>
            <p:ph idx="1"/>
          </p:nvPr>
        </p:nvSpPr>
        <p:spPr/>
        <p:txBody>
          <a:bodyPr>
            <a:normAutofit lnSpcReduction="10000"/>
          </a:bodyPr>
          <a:lstStyle/>
          <a:p>
            <a:pPr algn="just">
              <a:lnSpc>
                <a:spcPct val="80000"/>
              </a:lnSpc>
            </a:pPr>
            <a:r>
              <a:rPr lang="en-US" altLang="en-US" dirty="0" smtClean="0"/>
              <a:t>Eclipse is an open source community whose projects are focused on building an extensible development platform for building Java applications and frameworks. Eclipse is one of the best  Java IDE and as a matter of face Eclipse is much more than a Java IDE.</a:t>
            </a:r>
          </a:p>
          <a:p>
            <a:pPr algn="just">
              <a:lnSpc>
                <a:spcPct val="80000"/>
              </a:lnSpc>
            </a:pPr>
            <a:r>
              <a:rPr lang="en-US" altLang="en-US" dirty="0" smtClean="0"/>
              <a:t>We can configure a selenium project in eclipse and even run the scripts from eclipse.</a:t>
            </a:r>
          </a:p>
          <a:p>
            <a:pPr algn="just">
              <a:lnSpc>
                <a:spcPct val="80000"/>
              </a:lnSpc>
            </a:pPr>
            <a:r>
              <a:rPr lang="en-US" altLang="en-US" dirty="0" smtClean="0"/>
              <a:t>Eclipse also allows us to write reusable code for efficient test automation.</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0"/>
            <a:ext cx="7498080" cy="1143000"/>
          </a:xfrm>
        </p:spPr>
        <p:txBody>
          <a:bodyPr/>
          <a:lstStyle/>
          <a:p>
            <a:r>
              <a:rPr lang="en-US" altLang="en-US" dirty="0" smtClean="0"/>
              <a:t>Installing Eclipse</a:t>
            </a:r>
            <a:endParaRPr lang="en-US" dirty="0"/>
          </a:p>
        </p:txBody>
      </p:sp>
      <p:sp>
        <p:nvSpPr>
          <p:cNvPr id="3" name="Content Placeholder 2"/>
          <p:cNvSpPr>
            <a:spLocks noGrp="1"/>
          </p:cNvSpPr>
          <p:nvPr>
            <p:ph idx="1"/>
          </p:nvPr>
        </p:nvSpPr>
        <p:spPr>
          <a:xfrm>
            <a:off x="1447800" y="1066800"/>
            <a:ext cx="7498080" cy="4800600"/>
          </a:xfrm>
        </p:spPr>
        <p:txBody>
          <a:bodyPr/>
          <a:lstStyle/>
          <a:p>
            <a:pPr>
              <a:lnSpc>
                <a:spcPct val="90000"/>
              </a:lnSpc>
            </a:pPr>
            <a:r>
              <a:rPr lang="en-US" altLang="en-US" sz="2800" dirty="0" smtClean="0"/>
              <a:t>Download the “Eclipse IDE for Java Developers” from the http://www.eclipse.org/downloads/ page.</a:t>
            </a:r>
          </a:p>
          <a:p>
            <a:pPr>
              <a:lnSpc>
                <a:spcPct val="90000"/>
              </a:lnSpc>
            </a:pPr>
            <a:r>
              <a:rPr lang="en-US" altLang="en-US" sz="2800" dirty="0" smtClean="0"/>
              <a:t>Unzip the downloaded zip file from the above site into a directory.</a:t>
            </a:r>
          </a:p>
          <a:p>
            <a:pPr>
              <a:lnSpc>
                <a:spcPct val="90000"/>
              </a:lnSpc>
            </a:pPr>
            <a:r>
              <a:rPr lang="en-US" altLang="en-US" sz="2800" dirty="0" smtClean="0"/>
              <a:t>Once the unzipping is over open the folder and double click on the 	icon and it will open a dialog box as shown below.</a:t>
            </a:r>
          </a:p>
          <a:p>
            <a:endParaRPr lang="en-US" dirty="0"/>
          </a:p>
        </p:txBody>
      </p:sp>
      <p:pic>
        <p:nvPicPr>
          <p:cNvPr id="4" name="Picture 5"/>
          <p:cNvPicPr>
            <a:picLocks noChangeAspect="1" noChangeArrowheads="1"/>
          </p:cNvPicPr>
          <p:nvPr/>
        </p:nvPicPr>
        <p:blipFill>
          <a:blip r:embed="rId2"/>
          <a:srcRect/>
          <a:stretch>
            <a:fillRect/>
          </a:stretch>
        </p:blipFill>
        <p:spPr bwMode="auto">
          <a:xfrm>
            <a:off x="1752600" y="4572000"/>
            <a:ext cx="5676900" cy="182880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Eclipse IDE</a:t>
            </a:r>
            <a:endParaRPr lang="en-US" dirty="0"/>
          </a:p>
        </p:txBody>
      </p:sp>
      <p:pic>
        <p:nvPicPr>
          <p:cNvPr id="4" name="Picture 4"/>
          <p:cNvPicPr>
            <a:picLocks noGrp="1" noChangeAspect="1" noChangeArrowheads="1"/>
          </p:cNvPicPr>
          <p:nvPr>
            <p:ph idx="1"/>
          </p:nvPr>
        </p:nvPicPr>
        <p:blipFill>
          <a:blip r:embed="rId2"/>
          <a:srcRect/>
          <a:stretch>
            <a:fillRect/>
          </a:stretch>
        </p:blipFill>
        <p:spPr bwMode="auto">
          <a:xfrm>
            <a:off x="1371600" y="1267628"/>
            <a:ext cx="7147469" cy="5209372"/>
          </a:xfrm>
          <a:prstGeom prst="rect">
            <a:avLst/>
          </a:prstGeom>
          <a:noFill/>
          <a:ln w="9525">
            <a:noFill/>
            <a:miter lim="800000"/>
            <a:headEnd/>
            <a:tailEnd/>
          </a:ln>
          <a:effectLst/>
        </p:spPr>
      </p:pic>
      <p:sp>
        <p:nvSpPr>
          <p:cNvPr id="5" name="Rectangle 5"/>
          <p:cNvSpPr>
            <a:spLocks noChangeArrowheads="1"/>
          </p:cNvSpPr>
          <p:nvPr/>
        </p:nvSpPr>
        <p:spPr bwMode="auto">
          <a:xfrm>
            <a:off x="1524000" y="2971800"/>
            <a:ext cx="1524000" cy="1066800"/>
          </a:xfrm>
          <a:prstGeom prst="rect">
            <a:avLst/>
          </a:prstGeom>
          <a:solidFill>
            <a:schemeClr val="accent1"/>
          </a:solidFill>
          <a:ln w="9525">
            <a:solidFill>
              <a:schemeClr val="tx1"/>
            </a:solidFill>
            <a:miter lim="800000"/>
            <a:headEnd/>
            <a:tailEnd/>
          </a:ln>
          <a:effectLst/>
        </p:spPr>
        <p:txBody>
          <a:bodyPr wrap="none" anchor="ctr"/>
          <a:lstStyle/>
          <a:p>
            <a:pPr algn="ctr" eaLnBrk="1" hangingPunct="1"/>
            <a:r>
              <a:rPr lang="en-US" altLang="en-US"/>
              <a:t>Package</a:t>
            </a:r>
          </a:p>
          <a:p>
            <a:pPr algn="ctr" eaLnBrk="1" hangingPunct="1"/>
            <a:r>
              <a:rPr lang="en-US" altLang="en-US"/>
              <a:t>Explorer</a:t>
            </a:r>
          </a:p>
        </p:txBody>
      </p:sp>
      <p:sp>
        <p:nvSpPr>
          <p:cNvPr id="7" name="Rectangle 6"/>
          <p:cNvSpPr>
            <a:spLocks noChangeArrowheads="1"/>
          </p:cNvSpPr>
          <p:nvPr/>
        </p:nvSpPr>
        <p:spPr bwMode="auto">
          <a:xfrm>
            <a:off x="4114800" y="2590800"/>
            <a:ext cx="1981200" cy="1143000"/>
          </a:xfrm>
          <a:prstGeom prst="rect">
            <a:avLst/>
          </a:prstGeom>
          <a:solidFill>
            <a:schemeClr val="accent1"/>
          </a:solidFill>
          <a:ln w="9525">
            <a:solidFill>
              <a:schemeClr val="tx1"/>
            </a:solidFill>
            <a:miter lim="800000"/>
            <a:headEnd/>
            <a:tailEnd/>
          </a:ln>
          <a:effectLst/>
        </p:spPr>
        <p:txBody>
          <a:bodyPr wrap="none" anchor="ctr"/>
          <a:lstStyle/>
          <a:p>
            <a:pPr algn="ctr" eaLnBrk="1" hangingPunct="1"/>
            <a:r>
              <a:rPr lang="en-US" altLang="en-US" dirty="0"/>
              <a:t>Scrip View</a:t>
            </a:r>
          </a:p>
        </p:txBody>
      </p:sp>
      <p:sp>
        <p:nvSpPr>
          <p:cNvPr id="8" name="Rectangle 7"/>
          <p:cNvSpPr>
            <a:spLocks noChangeArrowheads="1"/>
          </p:cNvSpPr>
          <p:nvPr/>
        </p:nvSpPr>
        <p:spPr bwMode="auto">
          <a:xfrm>
            <a:off x="4267200" y="5562600"/>
            <a:ext cx="2057400" cy="533400"/>
          </a:xfrm>
          <a:prstGeom prst="rect">
            <a:avLst/>
          </a:prstGeom>
          <a:solidFill>
            <a:schemeClr val="accent1"/>
          </a:solidFill>
          <a:ln w="9525">
            <a:solidFill>
              <a:schemeClr val="tx1"/>
            </a:solidFill>
            <a:miter lim="800000"/>
            <a:headEnd/>
            <a:tailEnd/>
          </a:ln>
          <a:effectLst/>
        </p:spPr>
        <p:txBody>
          <a:bodyPr wrap="none" anchor="ctr"/>
          <a:lstStyle/>
          <a:p>
            <a:pPr algn="ctr" eaLnBrk="1" hangingPunct="1"/>
            <a:r>
              <a:rPr lang="en-US" altLang="en-US"/>
              <a:t>console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Create a Project In eclipse</a:t>
            </a:r>
            <a:endParaRPr lang="en-US" dirty="0"/>
          </a:p>
        </p:txBody>
      </p:sp>
      <p:sp>
        <p:nvSpPr>
          <p:cNvPr id="4" name="Content Placeholder 3"/>
          <p:cNvSpPr>
            <a:spLocks noGrp="1"/>
          </p:cNvSpPr>
          <p:nvPr>
            <p:ph sz="half" idx="1"/>
          </p:nvPr>
        </p:nvSpPr>
        <p:spPr/>
        <p:txBody>
          <a:bodyPr/>
          <a:lstStyle/>
          <a:p>
            <a:r>
              <a:rPr lang="en-US" altLang="en-US" dirty="0" smtClean="0"/>
              <a:t>File </a:t>
            </a:r>
            <a:r>
              <a:rPr lang="en-US" altLang="en-US" dirty="0" smtClean="0">
                <a:sym typeface="Wingdings" pitchFamily="2" charset="2"/>
              </a:rPr>
              <a:t> New  Java Project </a:t>
            </a:r>
            <a:endParaRPr lang="en-US" altLang="en-US" dirty="0" smtClean="0"/>
          </a:p>
          <a:p>
            <a:endParaRPr lang="en-US" dirty="0"/>
          </a:p>
        </p:txBody>
      </p:sp>
      <p:sp>
        <p:nvSpPr>
          <p:cNvPr id="5" name="Content Placeholder 4"/>
          <p:cNvSpPr>
            <a:spLocks noGrp="1"/>
          </p:cNvSpPr>
          <p:nvPr>
            <p:ph sz="half" idx="2"/>
          </p:nvPr>
        </p:nvSpPr>
        <p:spPr/>
        <p:txBody>
          <a:bodyPr/>
          <a:lstStyle/>
          <a:p>
            <a:r>
              <a:rPr lang="en-US" altLang="en-US" dirty="0" smtClean="0"/>
              <a:t>Specify the project name and click finish</a:t>
            </a:r>
          </a:p>
          <a:p>
            <a:endParaRPr lang="en-US" dirty="0"/>
          </a:p>
        </p:txBody>
      </p:sp>
      <p:pic>
        <p:nvPicPr>
          <p:cNvPr id="6" name="Picture 4"/>
          <p:cNvPicPr>
            <a:picLocks noChangeAspect="1" noChangeArrowheads="1"/>
          </p:cNvPicPr>
          <p:nvPr/>
        </p:nvPicPr>
        <p:blipFill>
          <a:blip r:embed="rId2"/>
          <a:srcRect/>
          <a:stretch>
            <a:fillRect/>
          </a:stretch>
        </p:blipFill>
        <p:spPr bwMode="auto">
          <a:xfrm>
            <a:off x="1524000" y="2743200"/>
            <a:ext cx="3505200" cy="2047875"/>
          </a:xfrm>
          <a:prstGeom prst="rect">
            <a:avLst/>
          </a:prstGeom>
          <a:noFill/>
          <a:ln w="9525">
            <a:noFill/>
            <a:miter lim="800000"/>
            <a:headEnd/>
            <a:tailEnd/>
          </a:ln>
          <a:effectLst/>
        </p:spPr>
      </p:pic>
      <p:pic>
        <p:nvPicPr>
          <p:cNvPr id="7" name="Picture 8"/>
          <p:cNvPicPr>
            <a:picLocks noChangeAspect="1" noChangeArrowheads="1"/>
          </p:cNvPicPr>
          <p:nvPr/>
        </p:nvPicPr>
        <p:blipFill>
          <a:blip r:embed="rId3"/>
          <a:srcRect/>
          <a:stretch>
            <a:fillRect/>
          </a:stretch>
        </p:blipFill>
        <p:spPr bwMode="auto">
          <a:xfrm>
            <a:off x="5486400" y="2514600"/>
            <a:ext cx="2914650" cy="342900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dirty="0" smtClean="0"/>
              <a:t>MAVEN</a:t>
            </a:r>
            <a:endParaRPr lang="en-US" dirty="0"/>
          </a:p>
        </p:txBody>
      </p:sp>
      <p:sp>
        <p:nvSpPr>
          <p:cNvPr id="6" name="Content Placeholder 5"/>
          <p:cNvSpPr>
            <a:spLocks noGrp="1"/>
          </p:cNvSpPr>
          <p:nvPr>
            <p:ph idx="1"/>
          </p:nvPr>
        </p:nvSpPr>
        <p:spPr/>
        <p:txBody>
          <a:bodyPr>
            <a:normAutofit fontScale="70000" lnSpcReduction="20000"/>
          </a:bodyPr>
          <a:lstStyle/>
          <a:p>
            <a:pPr>
              <a:defRPr/>
            </a:pPr>
            <a:r>
              <a:rPr lang="en-US" dirty="0" smtClean="0"/>
              <a:t>Maven is a build tool and it performs a task just like Ant which is again a different build Tool. It is a software project management tool that provides a new concept of project object model (POM).</a:t>
            </a:r>
          </a:p>
          <a:p>
            <a:pPr>
              <a:defRPr/>
            </a:pPr>
            <a:r>
              <a:rPr lang="en-US" b="1" dirty="0" smtClean="0"/>
              <a:t>Maven Local Repository</a:t>
            </a:r>
          </a:p>
          <a:p>
            <a:pPr marL="0" indent="0">
              <a:buNone/>
              <a:defRPr/>
            </a:pPr>
            <a:r>
              <a:rPr lang="en-US" sz="2800" dirty="0" smtClean="0"/>
              <a:t>  This is the place where Maven stores all the project jars files or libraries or     dependencies. By default the folder name is ‘</a:t>
            </a:r>
            <a:r>
              <a:rPr lang="en-US" sz="2800" b="1" i="1" dirty="0" smtClean="0"/>
              <a:t>.m2</a:t>
            </a:r>
            <a:r>
              <a:rPr lang="en-US" sz="2800" dirty="0" smtClean="0"/>
              <a:t>‘</a:t>
            </a:r>
          </a:p>
          <a:p>
            <a:pPr>
              <a:defRPr/>
            </a:pPr>
            <a:r>
              <a:rPr lang="en-US" b="1" dirty="0" smtClean="0"/>
              <a:t>Maven Central Repository</a:t>
            </a:r>
          </a:p>
          <a:p>
            <a:pPr marL="0" indent="0">
              <a:buNone/>
              <a:defRPr/>
            </a:pPr>
            <a:r>
              <a:rPr lang="en-US" dirty="0" smtClean="0"/>
              <a:t>Maven central repository is the default location ‘</a:t>
            </a:r>
            <a:r>
              <a:rPr lang="en-US" b="1" i="1" dirty="0" smtClean="0"/>
              <a:t>http://mvnrepository.com/</a:t>
            </a:r>
            <a:r>
              <a:rPr lang="en-US" dirty="0" smtClean="0"/>
              <a:t>‘ for Maven to download all the project dependency libraries. For any library required in the project, Maven first looks into the .m2 folder of Local Repository, if it does not find the required library then it looks in Central Repository and downloads the library into the local repository.</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Dependency Keyword</a:t>
            </a:r>
            <a:endParaRPr lang="en-US" dirty="0"/>
          </a:p>
        </p:txBody>
      </p:sp>
      <p:sp>
        <p:nvSpPr>
          <p:cNvPr id="3" name="Content Placeholder 2"/>
          <p:cNvSpPr>
            <a:spLocks noGrp="1"/>
          </p:cNvSpPr>
          <p:nvPr>
            <p:ph idx="1"/>
          </p:nvPr>
        </p:nvSpPr>
        <p:spPr/>
        <p:txBody>
          <a:bodyPr/>
          <a:lstStyle/>
          <a:p>
            <a:pPr>
              <a:defRPr/>
            </a:pPr>
            <a:r>
              <a:rPr lang="en-US" sz="2400" dirty="0" smtClean="0"/>
              <a:t>Dependencies are the libraries, which are required by the project. For example Log4j jars, Apache Poi jars, Selenium Jars, etc. Dependencies are mentioned in the Maven pom.xml like this:</a:t>
            </a:r>
          </a:p>
          <a:p>
            <a:pPr marL="400050" lvl="1" indent="0">
              <a:buNone/>
              <a:defRPr/>
            </a:pPr>
            <a:r>
              <a:rPr lang="en-US" sz="2400" dirty="0" smtClean="0"/>
              <a:t>&lt;dependency&gt;</a:t>
            </a:r>
          </a:p>
          <a:p>
            <a:pPr marL="400050" lvl="1" indent="0">
              <a:buNone/>
              <a:defRPr/>
            </a:pPr>
            <a:r>
              <a:rPr lang="en-US" sz="2400" dirty="0" smtClean="0"/>
              <a:t> &lt;</a:t>
            </a:r>
            <a:r>
              <a:rPr lang="en-US" sz="2400" dirty="0" err="1" smtClean="0"/>
              <a:t>groupId</a:t>
            </a:r>
            <a:r>
              <a:rPr lang="en-US" sz="2400" dirty="0" smtClean="0"/>
              <a:t>&gt;</a:t>
            </a:r>
            <a:r>
              <a:rPr lang="en-US" sz="2400" dirty="0" err="1" smtClean="0"/>
              <a:t>org.seleniumhq.selenium</a:t>
            </a:r>
            <a:r>
              <a:rPr lang="en-US" sz="2400" dirty="0" smtClean="0"/>
              <a:t>&lt;/</a:t>
            </a:r>
            <a:r>
              <a:rPr lang="en-US" sz="2400" dirty="0" err="1" smtClean="0"/>
              <a:t>groupId</a:t>
            </a:r>
            <a:r>
              <a:rPr lang="en-US" sz="2400" dirty="0" smtClean="0"/>
              <a:t>&gt;</a:t>
            </a:r>
          </a:p>
          <a:p>
            <a:pPr marL="400050" lvl="1" indent="0">
              <a:buNone/>
              <a:defRPr/>
            </a:pPr>
            <a:r>
              <a:rPr lang="en-US" sz="2400" dirty="0" smtClean="0"/>
              <a:t> &lt;</a:t>
            </a:r>
            <a:r>
              <a:rPr lang="en-US" sz="2400" dirty="0" err="1" smtClean="0"/>
              <a:t>artifactId</a:t>
            </a:r>
            <a:r>
              <a:rPr lang="en-US" sz="2400" dirty="0" smtClean="0"/>
              <a:t>&gt;selenium-java&lt;/</a:t>
            </a:r>
            <a:r>
              <a:rPr lang="en-US" sz="2400" dirty="0" err="1" smtClean="0"/>
              <a:t>artifactId</a:t>
            </a:r>
            <a:r>
              <a:rPr lang="en-US" sz="2400" dirty="0" smtClean="0"/>
              <a:t>&gt;</a:t>
            </a:r>
          </a:p>
          <a:p>
            <a:pPr marL="400050" lvl="1" indent="0">
              <a:buNone/>
              <a:defRPr/>
            </a:pPr>
            <a:r>
              <a:rPr lang="en-US" sz="2400" dirty="0" smtClean="0"/>
              <a:t> &lt;version&gt;2.43.1&lt;/version&gt;</a:t>
            </a:r>
          </a:p>
          <a:p>
            <a:pPr marL="400050" lvl="1" indent="0">
              <a:buNone/>
              <a:defRPr/>
            </a:pPr>
            <a:r>
              <a:rPr lang="en-US" sz="2400" dirty="0" smtClean="0"/>
              <a:t> &lt;/dependency&gt;</a:t>
            </a:r>
          </a:p>
          <a:p>
            <a:pPr marL="400050" lvl="1" indent="0">
              <a:buNone/>
              <a:defRPr/>
            </a:pPr>
            <a:endParaRPr lang="en-US" sz="1400" dirty="0" smtClean="0"/>
          </a:p>
          <a:p>
            <a:pPr marL="400050" lvl="1" indent="0">
              <a:buNone/>
              <a:defRPr/>
            </a:pPr>
            <a:r>
              <a:rPr lang="en-US" sz="1800" dirty="0" smtClean="0"/>
              <a:t>.</a:t>
            </a:r>
            <a:endParaRPr lang="en-US" sz="1800" dirty="0" smtClean="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Install Maven</a:t>
            </a:r>
            <a:endParaRPr lang="en-US" dirty="0"/>
          </a:p>
        </p:txBody>
      </p:sp>
      <p:sp>
        <p:nvSpPr>
          <p:cNvPr id="3" name="Content Placeholder 2"/>
          <p:cNvSpPr>
            <a:spLocks noGrp="1"/>
          </p:cNvSpPr>
          <p:nvPr>
            <p:ph idx="1"/>
          </p:nvPr>
        </p:nvSpPr>
        <p:spPr/>
        <p:txBody>
          <a:bodyPr>
            <a:normAutofit lnSpcReduction="10000"/>
          </a:bodyPr>
          <a:lstStyle/>
          <a:p>
            <a:pPr>
              <a:lnSpc>
                <a:spcPct val="90000"/>
              </a:lnSpc>
            </a:pPr>
            <a:r>
              <a:rPr lang="en-US" altLang="en-US" dirty="0" smtClean="0"/>
              <a:t>Download the </a:t>
            </a:r>
            <a:r>
              <a:rPr lang="en-US" altLang="en-US" dirty="0" smtClean="0"/>
              <a:t>“Maven” </a:t>
            </a:r>
            <a:r>
              <a:rPr lang="en-US" altLang="en-US" dirty="0" smtClean="0"/>
              <a:t>from the http://maven.apache.org/download.cgi.</a:t>
            </a:r>
          </a:p>
          <a:p>
            <a:pPr>
              <a:lnSpc>
                <a:spcPct val="90000"/>
              </a:lnSpc>
            </a:pPr>
            <a:r>
              <a:rPr lang="en-US" altLang="en-US" dirty="0" smtClean="0"/>
              <a:t>Unzip the downloaded zip file from the above site into a directory.</a:t>
            </a:r>
          </a:p>
          <a:p>
            <a:pPr>
              <a:lnSpc>
                <a:spcPct val="90000"/>
              </a:lnSpc>
            </a:pPr>
            <a:r>
              <a:rPr lang="en-US" altLang="en-US" dirty="0" smtClean="0"/>
              <a:t>Once the unzipping is </a:t>
            </a:r>
            <a:r>
              <a:rPr lang="en-US" altLang="en-US" dirty="0" smtClean="0"/>
              <a:t>over copy the path of folder and setting in Environment Variables with /bin in end of the path of folder.</a:t>
            </a:r>
            <a:endParaRPr lang="en-US" altLang="en-US" dirty="0" smtClean="0"/>
          </a:p>
          <a:p>
            <a:r>
              <a:rPr lang="en-US" dirty="0" smtClean="0"/>
              <a:t>After that, run in </a:t>
            </a:r>
            <a:r>
              <a:rPr lang="en-US" dirty="0" err="1" smtClean="0"/>
              <a:t>cmd</a:t>
            </a:r>
            <a:r>
              <a:rPr lang="en-US" dirty="0" smtClean="0"/>
              <a:t> with </a:t>
            </a:r>
            <a:r>
              <a:rPr lang="en-US" dirty="0" err="1" smtClean="0"/>
              <a:t>mvn</a:t>
            </a:r>
            <a:r>
              <a:rPr lang="en-US" dirty="0" smtClean="0"/>
              <a:t> command.</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Create a Project in Maven</a:t>
            </a:r>
            <a:endParaRPr lang="en-US" dirty="0"/>
          </a:p>
        </p:txBody>
      </p:sp>
      <p:pic>
        <p:nvPicPr>
          <p:cNvPr id="14" name="Content Placeholder 13" descr="maven.png"/>
          <p:cNvPicPr>
            <a:picLocks noGrp="1" noChangeAspect="1"/>
          </p:cNvPicPr>
          <p:nvPr>
            <p:ph idx="1"/>
          </p:nvPr>
        </p:nvPicPr>
        <p:blipFill>
          <a:blip r:embed="rId2"/>
          <a:stretch>
            <a:fillRect/>
          </a:stretch>
        </p:blipFill>
        <p:spPr>
          <a:xfrm>
            <a:off x="2088717" y="2033334"/>
            <a:ext cx="6192115" cy="3629532"/>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1498600" y="850900"/>
            <a:ext cx="6145213" cy="516255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Mallika\Desktop\maven config.png"/>
          <p:cNvPicPr>
            <a:picLocks noChangeAspect="1" noChangeArrowheads="1"/>
          </p:cNvPicPr>
          <p:nvPr/>
        </p:nvPicPr>
        <p:blipFill>
          <a:blip r:embed="rId2"/>
          <a:srcRect/>
          <a:stretch>
            <a:fillRect/>
          </a:stretch>
        </p:blipFill>
        <p:spPr bwMode="auto">
          <a:xfrm>
            <a:off x="1508125" y="691552"/>
            <a:ext cx="6416675" cy="5237762"/>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0"/>
            <a:ext cx="7498080" cy="1143000"/>
          </a:xfrm>
        </p:spPr>
        <p:txBody>
          <a:bodyPr/>
          <a:lstStyle/>
          <a:p>
            <a:r>
              <a:rPr lang="en-US" dirty="0" smtClean="0"/>
              <a:t>Folder Structure</a:t>
            </a:r>
            <a:endParaRPr lang="en-US" dirty="0"/>
          </a:p>
        </p:txBody>
      </p:sp>
      <p:pic>
        <p:nvPicPr>
          <p:cNvPr id="4" name="Content Placeholder 3" descr="project struct.PNG"/>
          <p:cNvPicPr>
            <a:picLocks noGrp="1" noChangeAspect="1"/>
          </p:cNvPicPr>
          <p:nvPr>
            <p:ph idx="1"/>
          </p:nvPr>
        </p:nvPicPr>
        <p:blipFill>
          <a:blip r:embed="rId2"/>
          <a:srcRect t="20588"/>
          <a:stretch>
            <a:fillRect/>
          </a:stretch>
        </p:blipFill>
        <p:spPr>
          <a:xfrm>
            <a:off x="4267200" y="1143000"/>
            <a:ext cx="2625034" cy="4953000"/>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645920" y="2590800"/>
            <a:ext cx="7498080" cy="1143000"/>
          </a:xfrm>
        </p:spPr>
        <p:txBody>
          <a:bodyPr/>
          <a:lstStyle/>
          <a:p>
            <a:r>
              <a:rPr lang="en-US" dirty="0" smtClean="0"/>
              <a:t>Presentation  2</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Frameworks and Third party Libraries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Data-driven Testing Framework</a:t>
            </a:r>
            <a:r>
              <a:rPr lang="en-US" dirty="0" smtClean="0"/>
              <a:t>.</a:t>
            </a:r>
          </a:p>
          <a:p>
            <a:pPr>
              <a:buNone/>
            </a:pPr>
            <a:r>
              <a:rPr lang="en-US" dirty="0" smtClean="0"/>
              <a:t> </a:t>
            </a:r>
            <a:r>
              <a:rPr lang="en-US" dirty="0" smtClean="0"/>
              <a:t>   -</a:t>
            </a:r>
            <a:r>
              <a:rPr lang="en-US" dirty="0" err="1" smtClean="0"/>
              <a:t>TestNG</a:t>
            </a:r>
            <a:endParaRPr lang="en-US" dirty="0" smtClean="0"/>
          </a:p>
          <a:p>
            <a:r>
              <a:rPr lang="en-US" dirty="0" smtClean="0"/>
              <a:t>Behavior Driven Development Testing Framework</a:t>
            </a:r>
            <a:r>
              <a:rPr lang="en-US" dirty="0" smtClean="0"/>
              <a:t>.</a:t>
            </a:r>
          </a:p>
          <a:p>
            <a:pPr>
              <a:buNone/>
            </a:pPr>
            <a:r>
              <a:rPr lang="en-US" dirty="0" smtClean="0"/>
              <a:t>    -</a:t>
            </a:r>
            <a:r>
              <a:rPr lang="en-US" dirty="0" smtClean="0"/>
              <a:t>Cucumber</a:t>
            </a:r>
            <a:endParaRPr lang="en-US" dirty="0" smtClean="0"/>
          </a:p>
          <a:p>
            <a:r>
              <a:rPr lang="en-US" dirty="0" smtClean="0"/>
              <a:t>POM(Page Object Model)- This is a design</a:t>
            </a:r>
            <a:r>
              <a:rPr lang="en-US" dirty="0" smtClean="0"/>
              <a:t> </a:t>
            </a:r>
            <a:r>
              <a:rPr lang="en-US" b="1" dirty="0" smtClean="0"/>
              <a:t>pattern</a:t>
            </a:r>
            <a:r>
              <a:rPr lang="en-US" dirty="0" smtClean="0"/>
              <a:t> can be used with any kind of </a:t>
            </a:r>
            <a:r>
              <a:rPr lang="en-US" b="1" dirty="0" smtClean="0"/>
              <a:t>framework</a:t>
            </a:r>
            <a:r>
              <a:rPr lang="en-US" dirty="0" smtClean="0"/>
              <a:t> like keyword-driven, Data-driven, hybrid </a:t>
            </a:r>
            <a:r>
              <a:rPr lang="en-US" b="1" dirty="0" smtClean="0"/>
              <a:t>framework</a:t>
            </a:r>
            <a:r>
              <a:rPr lang="en-US" dirty="0" smtClean="0"/>
              <a:t>, </a:t>
            </a:r>
            <a:r>
              <a:rPr lang="en-US" dirty="0" smtClean="0"/>
              <a:t>BDD etc.</a:t>
            </a:r>
          </a:p>
          <a:p>
            <a:r>
              <a:rPr lang="en-US" dirty="0" smtClean="0"/>
              <a:t>Extent Report</a:t>
            </a:r>
          </a:p>
          <a:p>
            <a:r>
              <a:rPr lang="en-US" dirty="0" smtClean="0"/>
              <a:t>Apache POI</a:t>
            </a:r>
          </a:p>
          <a:p>
            <a:r>
              <a:rPr lang="en-US" dirty="0" err="1" smtClean="0"/>
              <a:t>AutoIT</a:t>
            </a:r>
            <a:endParaRPr lang="en-US" dirty="0" smtClean="0"/>
          </a:p>
          <a:p>
            <a:pPr>
              <a:buNone/>
            </a:pPr>
            <a:r>
              <a:rPr lang="en-US" dirty="0" smtClean="0"/>
              <a:t> </a:t>
            </a:r>
            <a:r>
              <a:rPr lang="en-US" dirty="0" smtClean="0"/>
              <a:t>  </a:t>
            </a:r>
            <a:endParaRPr lang="en-US" dirty="0" smtClean="0"/>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72</TotalTime>
  <Words>663</Words>
  <Application>Microsoft Office PowerPoint</Application>
  <PresentationFormat>On-screen Show (4:3)</PresentationFormat>
  <Paragraphs>82</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Solstice</vt:lpstr>
      <vt:lpstr>Test Automation Using Selenium</vt:lpstr>
      <vt:lpstr>              Test Automation</vt:lpstr>
      <vt:lpstr>Why and When To Automate?</vt:lpstr>
      <vt:lpstr>Selenium</vt:lpstr>
      <vt:lpstr>Selenium Web Driver</vt:lpstr>
      <vt:lpstr>Finding elements by</vt:lpstr>
      <vt:lpstr>Structure of Web Driver</vt:lpstr>
      <vt:lpstr>Setting Up an Eclipse Project for Selenium Automation</vt:lpstr>
      <vt:lpstr>Installing Eclipse</vt:lpstr>
      <vt:lpstr>Eclipse IDE</vt:lpstr>
      <vt:lpstr>Create a Project In eclipse</vt:lpstr>
      <vt:lpstr>MAVEN</vt:lpstr>
      <vt:lpstr>Dependency Keyword</vt:lpstr>
      <vt:lpstr>Install Maven</vt:lpstr>
      <vt:lpstr>Create a Project in Maven</vt:lpstr>
      <vt:lpstr>Slide 16</vt:lpstr>
      <vt:lpstr>Slide 17</vt:lpstr>
      <vt:lpstr>Folder Structure</vt:lpstr>
      <vt:lpstr>Presentation  2</vt:lpstr>
      <vt:lpstr>Frameworks and Third party Libraries</vt:lpstr>
      <vt:lpstr>Slide 21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Automation Using Selenium</dc:title>
  <dc:creator>Mallika</dc:creator>
  <cp:lastModifiedBy>Mallika</cp:lastModifiedBy>
  <cp:revision>1</cp:revision>
  <dcterms:created xsi:type="dcterms:W3CDTF">2021-08-06T11:32:54Z</dcterms:created>
  <dcterms:modified xsi:type="dcterms:W3CDTF">2021-08-06T12:45:05Z</dcterms:modified>
</cp:coreProperties>
</file>